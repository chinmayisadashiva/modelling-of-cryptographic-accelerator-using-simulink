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he Youngest" charset="1" panose="00000500000000000000"/>
      <p:regular r:id="rId13"/>
    </p:embeddedFont>
    <p:embeddedFont>
      <p:font typeface="Hahmlet Bold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85550" y="7854252"/>
            <a:ext cx="5595842" cy="1404048"/>
          </a:xfrm>
          <a:custGeom>
            <a:avLst/>
            <a:gdLst/>
            <a:ahLst/>
            <a:cxnLst/>
            <a:rect r="r" b="b" t="t" l="l"/>
            <a:pathLst>
              <a:path h="1404048" w="5595842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77708" y="1028700"/>
            <a:ext cx="5595842" cy="1404048"/>
          </a:xfrm>
          <a:custGeom>
            <a:avLst/>
            <a:gdLst/>
            <a:ahLst/>
            <a:cxnLst/>
            <a:rect r="r" b="b" t="t" l="l"/>
            <a:pathLst>
              <a:path h="1404048" w="5595842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396048" y="7200900"/>
            <a:ext cx="7495905" cy="991487"/>
            <a:chOff x="0" y="0"/>
            <a:chExt cx="1456123" cy="1926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56123" cy="192602"/>
            </a:xfrm>
            <a:custGeom>
              <a:avLst/>
              <a:gdLst/>
              <a:ahLst/>
              <a:cxnLst/>
              <a:rect r="r" b="b" t="t" l="l"/>
              <a:pathLst>
                <a:path h="192602" w="1456123">
                  <a:moveTo>
                    <a:pt x="80689" y="0"/>
                  </a:moveTo>
                  <a:lnTo>
                    <a:pt x="1375434" y="0"/>
                  </a:lnTo>
                  <a:cubicBezTo>
                    <a:pt x="1419997" y="0"/>
                    <a:pt x="1456123" y="36126"/>
                    <a:pt x="1456123" y="80689"/>
                  </a:cubicBezTo>
                  <a:lnTo>
                    <a:pt x="1456123" y="111913"/>
                  </a:lnTo>
                  <a:cubicBezTo>
                    <a:pt x="1456123" y="156476"/>
                    <a:pt x="1419997" y="192602"/>
                    <a:pt x="1375434" y="192602"/>
                  </a:cubicBezTo>
                  <a:lnTo>
                    <a:pt x="80689" y="192602"/>
                  </a:lnTo>
                  <a:cubicBezTo>
                    <a:pt x="36126" y="192602"/>
                    <a:pt x="0" y="156476"/>
                    <a:pt x="0" y="111913"/>
                  </a:cubicBezTo>
                  <a:lnTo>
                    <a:pt x="0" y="80689"/>
                  </a:lnTo>
                  <a:cubicBezTo>
                    <a:pt x="0" y="36126"/>
                    <a:pt x="36126" y="0"/>
                    <a:pt x="80689" y="0"/>
                  </a:cubicBezTo>
                  <a:close/>
                </a:path>
              </a:pathLst>
            </a:custGeom>
            <a:solidFill>
              <a:srgbClr val="EAEAEA"/>
            </a:solidFill>
            <a:ln w="38100" cap="rnd">
              <a:solidFill>
                <a:srgbClr val="28282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56123" cy="230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2371" y="6940043"/>
            <a:ext cx="521713" cy="52171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53915" y="2989837"/>
            <a:ext cx="521713" cy="52171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940547" y="7285746"/>
            <a:ext cx="5987758" cy="137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</a:pPr>
            <a:r>
              <a:rPr lang="en-US" sz="3954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By Chinmayi G S</a:t>
            </a:r>
          </a:p>
          <a:p>
            <a:pPr algn="ctr">
              <a:lnSpc>
                <a:spcPts val="5536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683897" y="2599850"/>
            <a:ext cx="14920206" cy="4007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3"/>
              </a:lnSpc>
            </a:pPr>
            <a:r>
              <a:rPr lang="en-US" sz="8609" b="true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Modelling of Cryptographic Accelerator using Simulink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83897" y="8661675"/>
            <a:ext cx="14920206" cy="812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3"/>
              </a:lnSpc>
            </a:pPr>
            <a:r>
              <a:rPr lang="en-US" sz="2699" b="true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Department of Electronics and Communication Engineering</a:t>
            </a:r>
          </a:p>
          <a:p>
            <a:pPr algn="ctr">
              <a:lnSpc>
                <a:spcPts val="3293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419249" y="607439"/>
            <a:ext cx="13576665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US" sz="7500" b="true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4572" y="1949935"/>
            <a:ext cx="11616286" cy="813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3309" indent="-321654" lvl="1">
              <a:lnSpc>
                <a:spcPts val="5005"/>
              </a:lnSpc>
              <a:buFont typeface="Arial"/>
              <a:buChar char="•"/>
            </a:pPr>
            <a:r>
              <a:rPr lang="en-US" sz="297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C</a:t>
            </a:r>
            <a:r>
              <a:rPr lang="en-US" sz="297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ryptography is the science of securing information by converting readable data (plaintext) into an unreadable format (ciphertext) using encryption algorithms and cryptographic keys.</a:t>
            </a:r>
          </a:p>
          <a:p>
            <a:pPr algn="just" marL="643309" indent="-321654" lvl="1">
              <a:lnSpc>
                <a:spcPts val="5005"/>
              </a:lnSpc>
              <a:buFont typeface="Arial"/>
              <a:buChar char="•"/>
            </a:pPr>
            <a:r>
              <a:rPr lang="en-US" sz="297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The encrypted data can only be converted back to its original form through decryption using the appropriate key, ensuring confidentiality and secure communication.</a:t>
            </a:r>
          </a:p>
          <a:p>
            <a:pPr algn="just" marL="643309" indent="-321654" lvl="1">
              <a:lnSpc>
                <a:spcPts val="5005"/>
              </a:lnSpc>
              <a:buFont typeface="Arial"/>
              <a:buChar char="•"/>
            </a:pPr>
            <a:r>
              <a:rPr lang="en-US" sz="297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Elliptic Curve Cryptography (ECC) is a public-key cryptographic technique that provides high security with smaller key sizes, m</a:t>
            </a:r>
            <a:r>
              <a:rPr lang="en-US" sz="297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aking it suitable</a:t>
            </a:r>
            <a:r>
              <a:rPr lang="en-US" sz="297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 for embedded</a:t>
            </a:r>
            <a:r>
              <a:rPr lang="en-US" sz="297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 systems and IoT devices.</a:t>
            </a:r>
          </a:p>
          <a:p>
            <a:pPr algn="just" marL="643309" indent="-321654" lvl="1">
              <a:lnSpc>
                <a:spcPts val="5005"/>
              </a:lnSpc>
              <a:buFont typeface="Arial"/>
              <a:buChar char="•"/>
            </a:pPr>
            <a:r>
              <a:rPr lang="en-US" sz="297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This project focuses on modeling an ECC-based cryptographic accelerator to perform secure key generation, encryption, and decryption efficiently.</a:t>
            </a:r>
          </a:p>
          <a:p>
            <a:pPr algn="just">
              <a:lnSpc>
                <a:spcPts val="500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253078" y="-19573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802622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2859" y="9561906"/>
            <a:ext cx="521713" cy="52171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-195737"/>
            <a:ext cx="1037538" cy="103753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742317" y="2477149"/>
            <a:ext cx="5035753" cy="4956654"/>
          </a:xfrm>
          <a:custGeom>
            <a:avLst/>
            <a:gdLst/>
            <a:ahLst/>
            <a:cxnLst/>
            <a:rect r="r" b="b" t="t" l="l"/>
            <a:pathLst>
              <a:path h="4956654" w="5035753">
                <a:moveTo>
                  <a:pt x="0" y="0"/>
                </a:moveTo>
                <a:lnTo>
                  <a:pt x="5035752" y="0"/>
                </a:lnTo>
                <a:lnTo>
                  <a:pt x="5035752" y="4956654"/>
                </a:lnTo>
                <a:lnTo>
                  <a:pt x="0" y="4956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558" t="0" r="-32927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25235" y="457200"/>
            <a:ext cx="13576665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US" sz="7500" b="true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OBJECTIVES AND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4572" y="1753265"/>
            <a:ext cx="11616286" cy="750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</a:p>
          <a:p>
            <a:pPr algn="l" marL="643309" indent="-321654" lvl="1">
              <a:lnSpc>
                <a:spcPts val="5005"/>
              </a:lnSpc>
              <a:buFont typeface="Arial"/>
              <a:buChar char="•"/>
            </a:pPr>
            <a:r>
              <a:rPr lang="en-US" sz="297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To design and model an Elliptic Curve Cryptography (ECC)-based cryptographic accel</a:t>
            </a:r>
            <a:r>
              <a:rPr lang="en-US" sz="297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erator for secure data transmission.</a:t>
            </a:r>
          </a:p>
          <a:p>
            <a:pPr algn="l" marL="643309" indent="-321654" lvl="1">
              <a:lnSpc>
                <a:spcPts val="5005"/>
              </a:lnSpc>
              <a:buFont typeface="Arial"/>
              <a:buChar char="•"/>
            </a:pPr>
            <a:r>
              <a:rPr lang="en-US" sz="297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To implement key generation, encryption, and decryption for ensuring data confidentiality and integrity.</a:t>
            </a:r>
          </a:p>
          <a:p>
            <a:pPr algn="l" marL="643309" indent="-321654" lvl="1">
              <a:lnSpc>
                <a:spcPts val="5005"/>
              </a:lnSpc>
              <a:buFont typeface="Arial"/>
              <a:buChar char="•"/>
            </a:pPr>
            <a:r>
              <a:rPr lang="en-US" sz="297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To </a:t>
            </a:r>
            <a:r>
              <a:rPr lang="en-US" sz="297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improve the efficiency, speed, and security of cryptographic operations for embedded applications.</a:t>
            </a:r>
          </a:p>
          <a:p>
            <a:pPr algn="l" marL="643309" indent="-321654" lvl="1">
              <a:lnSpc>
                <a:spcPts val="5005"/>
              </a:lnSpc>
              <a:buFont typeface="Arial"/>
              <a:buChar char="•"/>
            </a:pPr>
            <a:r>
              <a:rPr lang="en-US" sz="297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To support secure commu</a:t>
            </a:r>
            <a:r>
              <a:rPr lang="en-US" sz="297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nicati</a:t>
            </a:r>
            <a:r>
              <a:rPr lang="en-US" sz="297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on in embedded</a:t>
            </a:r>
            <a:r>
              <a:rPr lang="en-US" sz="297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 systems, IoT devices, and wireless networks.</a:t>
            </a:r>
          </a:p>
          <a:p>
            <a:pPr algn="l" marL="643309" indent="-321654" lvl="1">
              <a:lnSpc>
                <a:spcPts val="5005"/>
              </a:lnSpc>
              <a:buFont typeface="Arial"/>
              <a:buChar char="•"/>
            </a:pPr>
            <a:r>
              <a:rPr lang="en-US" sz="297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To provide a foundation for future FPGA/ASIC implementation and real-time cryptographic applications.</a:t>
            </a:r>
          </a:p>
          <a:p>
            <a:pPr algn="just">
              <a:lnSpc>
                <a:spcPts val="500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253078" y="-19573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802622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2859" y="9561906"/>
            <a:ext cx="521713" cy="52171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-195737"/>
            <a:ext cx="1037538" cy="103753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400859" y="2845391"/>
            <a:ext cx="5012499" cy="5180829"/>
          </a:xfrm>
          <a:custGeom>
            <a:avLst/>
            <a:gdLst/>
            <a:ahLst/>
            <a:cxnLst/>
            <a:rect r="r" b="b" t="t" l="l"/>
            <a:pathLst>
              <a:path h="5180829" w="5012499">
                <a:moveTo>
                  <a:pt x="0" y="0"/>
                </a:moveTo>
                <a:lnTo>
                  <a:pt x="5012499" y="0"/>
                </a:lnTo>
                <a:lnTo>
                  <a:pt x="5012499" y="5180829"/>
                </a:lnTo>
                <a:lnTo>
                  <a:pt x="0" y="51808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53078" y="-19573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802622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62859" y="9561906"/>
            <a:ext cx="521713" cy="52171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59300" y="-195737"/>
            <a:ext cx="1037538" cy="103753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309698" y="7233999"/>
            <a:ext cx="6356525" cy="2622004"/>
          </a:xfrm>
          <a:custGeom>
            <a:avLst/>
            <a:gdLst/>
            <a:ahLst/>
            <a:cxnLst/>
            <a:rect r="r" b="b" t="t" l="l"/>
            <a:pathLst>
              <a:path h="2622004" w="6356525">
                <a:moveTo>
                  <a:pt x="0" y="0"/>
                </a:moveTo>
                <a:lnTo>
                  <a:pt x="6356524" y="0"/>
                </a:lnTo>
                <a:lnTo>
                  <a:pt x="6356524" y="2622004"/>
                </a:lnTo>
                <a:lnTo>
                  <a:pt x="0" y="2622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92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4841" y="2387988"/>
            <a:ext cx="7282278" cy="1960063"/>
          </a:xfrm>
          <a:custGeom>
            <a:avLst/>
            <a:gdLst/>
            <a:ahLst/>
            <a:cxnLst/>
            <a:rect r="r" b="b" t="t" l="l"/>
            <a:pathLst>
              <a:path h="1960063" w="7282278">
                <a:moveTo>
                  <a:pt x="0" y="0"/>
                </a:moveTo>
                <a:lnTo>
                  <a:pt x="7282278" y="0"/>
                </a:lnTo>
                <a:lnTo>
                  <a:pt x="7282278" y="1960063"/>
                </a:lnTo>
                <a:lnTo>
                  <a:pt x="0" y="19600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09698" y="2266610"/>
            <a:ext cx="5892202" cy="2202819"/>
          </a:xfrm>
          <a:custGeom>
            <a:avLst/>
            <a:gdLst/>
            <a:ahLst/>
            <a:cxnLst/>
            <a:rect r="r" b="b" t="t" l="l"/>
            <a:pathLst>
              <a:path h="2202819" w="5892202">
                <a:moveTo>
                  <a:pt x="0" y="0"/>
                </a:moveTo>
                <a:lnTo>
                  <a:pt x="5892202" y="0"/>
                </a:lnTo>
                <a:lnTo>
                  <a:pt x="5892202" y="2202819"/>
                </a:lnTo>
                <a:lnTo>
                  <a:pt x="0" y="22028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768919" y="4799769"/>
            <a:ext cx="5674173" cy="1986555"/>
          </a:xfrm>
          <a:custGeom>
            <a:avLst/>
            <a:gdLst/>
            <a:ahLst/>
            <a:cxnLst/>
            <a:rect r="r" b="b" t="t" l="l"/>
            <a:pathLst>
              <a:path h="1986555" w="5674173">
                <a:moveTo>
                  <a:pt x="0" y="0"/>
                </a:moveTo>
                <a:lnTo>
                  <a:pt x="5674172" y="0"/>
                </a:lnTo>
                <a:lnTo>
                  <a:pt x="5674172" y="1986555"/>
                </a:lnTo>
                <a:lnTo>
                  <a:pt x="0" y="19865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8700" y="7234919"/>
            <a:ext cx="6024470" cy="2326987"/>
          </a:xfrm>
          <a:custGeom>
            <a:avLst/>
            <a:gdLst/>
            <a:ahLst/>
            <a:cxnLst/>
            <a:rect r="r" b="b" t="t" l="l"/>
            <a:pathLst>
              <a:path h="2326987" w="6024470">
                <a:moveTo>
                  <a:pt x="0" y="0"/>
                </a:moveTo>
                <a:lnTo>
                  <a:pt x="6024470" y="0"/>
                </a:lnTo>
                <a:lnTo>
                  <a:pt x="6024470" y="2326987"/>
                </a:lnTo>
                <a:lnTo>
                  <a:pt x="0" y="23269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55667" y="457200"/>
            <a:ext cx="13576665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US" b="true" sz="7500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METHODOLOGY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25235" y="457200"/>
            <a:ext cx="13576665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US" sz="7500" b="true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RESULTS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253078" y="-19573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802622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62859" y="9561906"/>
            <a:ext cx="521713" cy="52171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-195737"/>
            <a:ext cx="1037538" cy="103753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23716" y="2859331"/>
            <a:ext cx="8194275" cy="5443444"/>
          </a:xfrm>
          <a:custGeom>
            <a:avLst/>
            <a:gdLst/>
            <a:ahLst/>
            <a:cxnLst/>
            <a:rect r="r" b="b" t="t" l="l"/>
            <a:pathLst>
              <a:path h="5443444" w="8194275">
                <a:moveTo>
                  <a:pt x="0" y="0"/>
                </a:moveTo>
                <a:lnTo>
                  <a:pt x="8194275" y="0"/>
                </a:lnTo>
                <a:lnTo>
                  <a:pt x="8194275" y="5443444"/>
                </a:lnTo>
                <a:lnTo>
                  <a:pt x="0" y="5443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484214" y="2908855"/>
            <a:ext cx="6822169" cy="5393920"/>
          </a:xfrm>
          <a:custGeom>
            <a:avLst/>
            <a:gdLst/>
            <a:ahLst/>
            <a:cxnLst/>
            <a:rect r="r" b="b" t="t" l="l"/>
            <a:pathLst>
              <a:path h="5393920" w="6822169">
                <a:moveTo>
                  <a:pt x="0" y="0"/>
                </a:moveTo>
                <a:lnTo>
                  <a:pt x="6822169" y="0"/>
                </a:lnTo>
                <a:lnTo>
                  <a:pt x="6822169" y="5393920"/>
                </a:lnTo>
                <a:lnTo>
                  <a:pt x="0" y="5393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55667" y="457200"/>
            <a:ext cx="13576665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US" sz="7500" b="true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RESULTS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253078" y="-19573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802622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62859" y="9561906"/>
            <a:ext cx="521713" cy="52171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-195737"/>
            <a:ext cx="1037538" cy="103753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989269" y="1711008"/>
            <a:ext cx="13177251" cy="8111756"/>
          </a:xfrm>
          <a:custGeom>
            <a:avLst/>
            <a:gdLst/>
            <a:ahLst/>
            <a:cxnLst/>
            <a:rect r="r" b="b" t="t" l="l"/>
            <a:pathLst>
              <a:path h="8111756" w="13177251">
                <a:moveTo>
                  <a:pt x="0" y="0"/>
                </a:moveTo>
                <a:lnTo>
                  <a:pt x="13177251" y="0"/>
                </a:lnTo>
                <a:lnTo>
                  <a:pt x="13177251" y="8111755"/>
                </a:lnTo>
                <a:lnTo>
                  <a:pt x="0" y="81117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53078" y="-19573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802622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62859" y="9561906"/>
            <a:ext cx="521713" cy="52171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59300" y="-195737"/>
            <a:ext cx="1037538" cy="103753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355667" y="457200"/>
            <a:ext cx="13576665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US" sz="7500" b="true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REFERENCES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2858" y="1952751"/>
            <a:ext cx="16282285" cy="787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49"/>
              </a:lnSpc>
            </a:pPr>
            <a:r>
              <a:rPr lang="en-US" sz="216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[1] Kirit V. Patel, Mihir V. Shah, Pankaj P. Prajapati, Anil J. Kshatriya, "Design and Implementation of Effective Elliptic Curve Cryptography Accelerator using Hardware/Software Co-Design on Zynq Board," International Journal of Engineering Trends and Technology, vol. 70, no. 8, pp. 327-335, 2022.</a:t>
            </a:r>
          </a:p>
          <a:p>
            <a:pPr algn="just">
              <a:lnSpc>
                <a:spcPts val="3949"/>
              </a:lnSpc>
            </a:pPr>
            <a:r>
              <a:rPr lang="en-US" sz="216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[2] KASHIF, MUHAMMAD and ÇİÇEK, İHSAN (2021) "Field-programmable gate array (FPGA) hardware design and implementation of a new area efficient elliptic curve crypto-processor," Turkish Journal of Electrical Engineering and Computer Sciences, Vol. 29, No. 4, Article 17.</a:t>
            </a:r>
          </a:p>
          <a:p>
            <a:pPr algn="just">
              <a:lnSpc>
                <a:spcPts val="3949"/>
              </a:lnSpc>
            </a:pPr>
            <a:r>
              <a:rPr lang="en-US" sz="216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[3] Liu, Z., Seo, H., Großschädl, J., Kim, H. (2013). Efficient Implementation of NIST-Compliant Elliptic Curve Cryptography for Sensor Nodes. In: Information and Communications Security. ICICS 2013. Lecture Notes in Computer Science, vol 8233. Springer, Cham.</a:t>
            </a:r>
          </a:p>
          <a:p>
            <a:pPr algn="just">
              <a:lnSpc>
                <a:spcPts val="3949"/>
              </a:lnSpc>
            </a:pPr>
            <a:r>
              <a:rPr lang="en-US" sz="216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[4] Marco Indaco, Fabio Lauri, Andrea Miele, Pascal Trotta (2015). "An Efficient Many-Core Architecture for Elliptic Curve Cryptography Security Assessment," Cryptology ePrint Archive, Paper 2015/638.</a:t>
            </a:r>
          </a:p>
          <a:p>
            <a:pPr algn="just">
              <a:lnSpc>
                <a:spcPts val="3949"/>
              </a:lnSpc>
            </a:pPr>
            <a:r>
              <a:rPr lang="en-US" sz="216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[5] FPGA Acceleration of AES Algorithm for High-Performance Cryptographic Applications</a:t>
            </a:r>
          </a:p>
          <a:p>
            <a:pPr algn="just">
              <a:lnSpc>
                <a:spcPts val="3949"/>
              </a:lnSpc>
            </a:pPr>
            <a:r>
              <a:rPr lang="en-US" sz="216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[6] Kadu, R.K., Adane, D.S. (2020). Hardware Implementation of Elliptic Curve Cryptosystem Using Optimized Scalar Multiplication. In: Smart Trends in Computing and Communications. Smart Innovation, Systems and Technologies, vol 165. Springer, Singapore.</a:t>
            </a:r>
          </a:p>
          <a:p>
            <a:pPr algn="just">
              <a:lnSpc>
                <a:spcPts val="3949"/>
              </a:lnSpc>
            </a:pPr>
            <a:r>
              <a:rPr lang="en-US" sz="216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[7] Nilima D. Parmar, Poonam Kadam. High Speed Architecture Implementation of AES using FPGA. CAE Proceedings on International Conference on Communication Technology. ICCT2015, 5 (September 2015), 31-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DAHMvg8vkXk</dc:identifier>
  <dcterms:modified xsi:type="dcterms:W3CDTF">2011-08-01T06:04:30Z</dcterms:modified>
  <cp:revision>1</cp:revision>
  <dc:title>CHINMAYI G S</dc:title>
</cp:coreProperties>
</file>